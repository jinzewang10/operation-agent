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5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微软用户" initials="微软用户" lastIdx="0" clrIdx="0"/>
  <p:cmAuthor id="7" name="闵 霞" initials="闵" lastIdx="1" clrIdx="6"/>
  <p:cmAuthor id="1" name="张世勇" initials="张" lastIdx="1" clrIdx="0"/>
  <p:cmAuthor id="8" name="lijinting01" initials="l" lastIdx="1" clrIdx="4"/>
  <p:cmAuthor id="2" name="赵明" initials="赵" lastIdx="4" clrIdx="1"/>
  <p:cmAuthor id="9" name="Administrator" initials="A" lastIdx="1" clrIdx="8"/>
  <p:cmAuthor id="3" name="陈青" initials="陈" lastIdx="4" clrIdx="2"/>
  <p:cmAuthor id="4" name="gongxuan" initials="g" lastIdx="2" clrIdx="3"/>
  <p:cmAuthor id="11" name="系统管理员131" initials="系" lastIdx="1" clrIdx="10"/>
  <p:cmAuthor id="5" name="郭培星" initials="郭" lastIdx="1" clrIdx="4"/>
  <p:cmAuthor id="12" name="杨建仁" initials="杨" lastIdx="1" clrIdx="11"/>
  <p:cmAuthor id="6" name="张志辉" initials="张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E7340C"/>
    <a:srgbClr val="FF1A00"/>
    <a:srgbClr val="E834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Grid="0">
      <p:cViewPr varScale="1">
        <p:scale>
          <a:sx n="101" d="100"/>
          <a:sy n="101" d="100"/>
        </p:scale>
        <p:origin x="324" y="68"/>
      </p:cViewPr>
      <p:guideLst>
        <p:guide orient="horz" pos="226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260" y="52"/>
      </p:cViewPr>
      <p:guideLst/>
    </p:cSldViewPr>
  </p:notesViewPr>
  <p:gridSpacing cx="72005" cy="72005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 w="9525">
            <a:noFill/>
          </a:ln>
        </p:spPr>
        <p:txBody>
          <a:bodyPr vert="horz"/>
          <a:lstStyle>
            <a:lvl1pPr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/>
          </a:p>
        </p:txBody>
      </p:sp>
      <p:sp>
        <p:nvSpPr>
          <p:cNvPr id="2051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 w="9525">
            <a:noFill/>
          </a:ln>
        </p:spPr>
        <p:txBody>
          <a:bodyPr vert="horz"/>
          <a:lstStyle>
            <a:lvl1pPr algn="r" eaLnBrk="1" hangingPunct="1">
              <a:buFont typeface="Arial" panose="020B0604020202020204" pitchFamily="34" charset="0"/>
              <a:buNone/>
              <a:defRPr noProof="1" dirty="0"/>
            </a:lvl1pPr>
          </a:lstStyle>
          <a:p>
            <a:pPr>
              <a:defRPr/>
            </a:pPr>
            <a:fld id="{56BE13ED-C59A-4CD7-9963-98099B3E6EFA}" type="datetime1">
              <a:rPr lang="zh-CN" altLang="en-US"/>
              <a:t>2026/2/27</a:t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/>
              <a:t>单击此处编辑母版文本样式</a:t>
            </a:r>
          </a:p>
          <a:p>
            <a:pPr lvl="1" eaLnBrk="1" hangingPunct="1">
              <a:buFont typeface="Arial" panose="020B0604020202020204" pitchFamily="34" charset="0"/>
              <a:buNone/>
              <a:defRPr/>
            </a:pPr>
            <a:r>
              <a:rPr lang="zh-CN" altLang="en-US"/>
              <a:t>第二级</a:t>
            </a:r>
          </a:p>
          <a:p>
            <a:pPr lvl="2" eaLnBrk="1" hangingPunct="1">
              <a:buFont typeface="Arial" panose="020B0604020202020204" pitchFamily="34" charset="0"/>
              <a:buNone/>
              <a:defRPr/>
            </a:pPr>
            <a:r>
              <a:rPr lang="zh-CN" altLang="en-US"/>
              <a:t>第三级</a:t>
            </a:r>
          </a:p>
          <a:p>
            <a:pPr lvl="3" eaLnBrk="1" hangingPunct="1">
              <a:buFont typeface="Arial" panose="020B0604020202020204" pitchFamily="34" charset="0"/>
              <a:buNone/>
              <a:defRPr/>
            </a:pPr>
            <a:r>
              <a:rPr lang="zh-CN" altLang="en-US"/>
              <a:t>第四级</a:t>
            </a:r>
          </a:p>
          <a:p>
            <a:pPr lvl="4" eaLnBrk="1" hangingPunct="1">
              <a:buFont typeface="Arial" panose="020B0604020202020204" pitchFamily="34" charset="0"/>
              <a:buNone/>
              <a:defRPr/>
            </a:pPr>
            <a:r>
              <a:rPr lang="zh-CN" altLang="en-US"/>
              <a:t>第五级</a:t>
            </a:r>
          </a:p>
        </p:txBody>
      </p:sp>
      <p:sp>
        <p:nvSpPr>
          <p:cNvPr id="2054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anchor="b" anchorCtr="0"/>
          <a:lstStyle>
            <a:lvl1pPr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/>
          </a:p>
        </p:txBody>
      </p:sp>
      <p:sp>
        <p:nvSpPr>
          <p:cNvPr id="2055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mtClean="0"/>
            </a:lvl1pPr>
          </a:lstStyle>
          <a:p>
            <a:pPr>
              <a:defRPr/>
            </a:pPr>
            <a:fld id="{4455B189-88C1-4CC6-80B5-863DE693366F}" type="slidenum">
              <a:rPr lang="zh-CN" altLang="en-US"/>
              <a:t>‹#›</a:t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1pPr>
    <a:lvl2pPr lvl="1" algn="l" defTabSz="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2pPr>
    <a:lvl3pPr lvl="2" algn="l" defTabSz="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3pPr>
    <a:lvl4pPr lvl="3" algn="l" defTabSz="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4pPr>
    <a:lvl5pPr lvl="4" algn="l" defTabSz="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5pPr>
    <a:lvl6pPr marL="2286000" lvl="5" indent="0" defTabSz="0" fontAlgn="base">
      <a:defRPr sz="1200" kern="1200"/>
    </a:lvl6pPr>
    <a:lvl7pPr marL="2743200" lvl="6" indent="0" defTabSz="0" fontAlgn="base">
      <a:defRPr sz="1200" kern="1200"/>
    </a:lvl7pPr>
    <a:lvl8pPr marL="3200400" lvl="7" indent="0" defTabSz="0" fontAlgn="base">
      <a:defRPr sz="1200" kern="1200"/>
    </a:lvl8pPr>
    <a:lvl9pPr marL="3657600" lvl="8" indent="0" defTabSz="0" fontAlgn="base">
      <a:defRPr sz="1200" kern="1200"/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ICC PPT 0603-14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10215563" y="53975"/>
            <a:ext cx="1493837" cy="601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4" name="bk object 16"/>
          <p:cNvSpPr>
            <a:spLocks noChangeArrowheads="1"/>
          </p:cNvSpPr>
          <p:nvPr userDrawn="1"/>
        </p:nvSpPr>
        <p:spPr bwMode="auto">
          <a:xfrm>
            <a:off x="10248900" y="161925"/>
            <a:ext cx="1701800" cy="45085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endParaRPr lang="zh-CN" altLang="zh-CN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等线 Light" panose="02010600030101010101" pitchFamily="2" charset="-122"/>
        </a:defRPr>
      </a:lvl1pPr>
      <a:lvl2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  <a:sym typeface="等线 Light" panose="02010600030101010101" pitchFamily="2" charset="-122"/>
        </a:defRPr>
      </a:lvl2pPr>
      <a:lvl3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  <a:sym typeface="等线 Light" panose="02010600030101010101" pitchFamily="2" charset="-122"/>
        </a:defRPr>
      </a:lvl3pPr>
      <a:lvl4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  <a:sym typeface="等线 Light" panose="02010600030101010101" pitchFamily="2" charset="-122"/>
        </a:defRPr>
      </a:lvl4pPr>
      <a:lvl5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  <a:sym typeface="等线 Light" panose="02010600030101010101" pitchFamily="2" charset="-122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  <a:sym typeface="等线 Light" panose="02010600030101010101" pitchFamily="2" charset="-122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  <a:sym typeface="等线 Light" panose="02010600030101010101" pitchFamily="2" charset="-122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  <a:sym typeface="等线 Light" panose="02010600030101010101" pitchFamily="2" charset="-122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  <a:sym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等线" panose="02010600030101010101" pitchFamily="2" charset="-122"/>
        </a:defRPr>
      </a:lvl1pPr>
      <a:lvl2pPr marL="685800" lvl="1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  <a:sym typeface="等线" panose="02010600030101010101" pitchFamily="2" charset="-122"/>
        </a:defRPr>
      </a:lvl2pPr>
      <a:lvl3pPr marL="1143000" lvl="2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  <a:sym typeface="等线" panose="02010600030101010101" pitchFamily="2" charset="-122"/>
        </a:defRPr>
      </a:lvl3pPr>
      <a:lvl4pPr marL="1600200" lvl="3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  <a:sym typeface="等线" panose="02010600030101010101" pitchFamily="2" charset="-122"/>
        </a:defRPr>
      </a:lvl4pPr>
      <a:lvl5pPr marL="2057400" lvl="4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  <a:sym typeface="等线" panose="02010600030101010101" pitchFamily="2" charset="-122"/>
        </a:defRPr>
      </a:lvl5pPr>
      <a:lvl6pPr marL="2514600" lvl="5" indent="-228600" algn="l" defTabSz="914400" eaLnBrk="1" fontAlgn="base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  <a:sym typeface="等线" panose="02010600030101010101" pitchFamily="2" charset="-122"/>
        </a:defRPr>
      </a:lvl6pPr>
      <a:lvl7pPr marL="2971800" lvl="6" indent="-228600" algn="l" defTabSz="914400" eaLnBrk="1" fontAlgn="base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  <a:sym typeface="等线" panose="02010600030101010101" pitchFamily="2" charset="-122"/>
        </a:defRPr>
      </a:lvl7pPr>
      <a:lvl8pPr marL="3429000" lvl="7" indent="-228600" algn="l" defTabSz="914400" eaLnBrk="1" fontAlgn="base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  <a:sym typeface="等线" panose="02010600030101010101" pitchFamily="2" charset="-122"/>
        </a:defRPr>
      </a:lvl8pPr>
      <a:lvl9pPr marL="3886200" lvl="8" indent="-228600" algn="l" defTabSz="914400" eaLnBrk="1" fontAlgn="base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  <a:sym typeface="等线" panose="02010600030101010101" pitchFamily="2" charset="-122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defRPr sz="1800" kern="1200" baseline="0">
          <a:solidFill>
            <a:schemeClr val="tx1"/>
          </a:solidFill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7772400" cy="2743200"/>
          </a:xfrm>
          <a:prstGeom prst="rect">
            <a:avLst/>
          </a:prstGeom>
          <a:solidFill>
            <a:srgbClr val="2E75B6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6858000" cy="10972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  <a:ea typeface="微软雅黑"/>
              </a:rPr>
              <a:t>运维巡检 AI Agent 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383280"/>
            <a:ext cx="6858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0">
                <a:solidFill>
                  <a:srgbClr val="DDDDDD"/>
                </a:solidFill>
                <a:latin typeface="Arial"/>
                <a:ea typeface="微软雅黑"/>
              </a:rPr>
              <a:t>用 AI 替代人工巡检，提升事件响应效率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246120"/>
            <a:ext cx="2286000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6858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0">
                <a:solidFill>
                  <a:srgbClr val="BBBBBB"/>
                </a:solidFill>
                <a:latin typeface="Arial"/>
                <a:ea typeface="微软雅黑"/>
              </a:rPr>
              <a:t>信息技术部  |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91695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91440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  <a:ea typeface="微软雅黑"/>
              </a:rPr>
              <a:t>现状与痛点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30352"/>
            <a:ext cx="73152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3152" cy="3200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46200"/>
            <a:ext cx="4572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Arial"/>
                <a:ea typeface="微软雅黑"/>
              </a:rPr>
              <a:t>事件响应流程低效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502920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/>
                <a:ea typeface="微软雅黑"/>
              </a:rPr>
              <a:t>•  事件发生后，运维人员需手动逐一登录 4-5 套监控系统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502920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/>
                <a:ea typeface="微软雅黑"/>
              </a:rPr>
              <a:t>•  单次巡检耗时 15-30 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22576"/>
            <a:ext cx="502920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/>
                <a:ea typeface="微软雅黑"/>
              </a:rPr>
              <a:t>•  依赖个人经验，检查范围因人而异，容易遗漏关键信息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98063"/>
            <a:ext cx="73152" cy="3200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72663"/>
            <a:ext cx="4572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Arial"/>
                <a:ea typeface="微软雅黑"/>
              </a:rPr>
              <a:t>多系统割裂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63823"/>
            <a:ext cx="502920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/>
                <a:ea typeface="微软雅黑"/>
              </a:rPr>
              <a:t>•  Prometheus、Zabbix、ELK、云监控各自独立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56431"/>
            <a:ext cx="502920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/>
                <a:ea typeface="微软雅黑"/>
              </a:rPr>
              <a:t>•  无法一键获取全局视图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49039"/>
            <a:ext cx="502920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/>
                <a:ea typeface="微软雅黑"/>
              </a:rPr>
              <a:t>•  不同系统的告警缺乏关联分析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24526"/>
            <a:ext cx="73152" cy="3200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199126"/>
            <a:ext cx="4572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Arial"/>
                <a:ea typeface="微软雅黑"/>
              </a:rPr>
              <a:t>效率瓶颈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90286"/>
            <a:ext cx="502920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/>
                <a:ea typeface="微软雅黑"/>
              </a:rPr>
              <a:t>•  夜间 / 节假日响应不及时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82894"/>
            <a:ext cx="502920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/>
                <a:ea typeface="微软雅黑"/>
              </a:rPr>
              <a:t>•  重复劳动消耗大量人力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75502"/>
            <a:ext cx="502920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/>
                <a:ea typeface="微软雅黑"/>
              </a:rPr>
              <a:t>•  经验难以沉淀和传承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400" b="1">
                <a:solidFill>
                  <a:srgbClr val="2E75B6"/>
                </a:solidFill>
                <a:latin typeface="Arial"/>
                <a:ea typeface="微软雅黑"/>
              </a:rPr>
              <a:t>当前巡检流程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192024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软雅黑"/>
              </a:rPr>
              <a:t>事件告警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058400" y="1965960"/>
            <a:ext cx="457200" cy="36576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49440" y="2651760"/>
            <a:ext cx="1828800" cy="384048"/>
          </a:xfrm>
          <a:prstGeom prst="roundRect">
            <a:avLst>
              <a:gd name="adj" fmla="val 10000"/>
            </a:avLst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微软雅黑"/>
              </a:rPr>
              <a:t>Prometheus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0" y="3154680"/>
            <a:ext cx="1828800" cy="384048"/>
          </a:xfrm>
          <a:prstGeom prst="roundRect">
            <a:avLst>
              <a:gd name="adj" fmla="val 10000"/>
            </a:avLst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微软雅黑"/>
              </a:rPr>
              <a:t>Zabbix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0" y="3657600"/>
            <a:ext cx="1828800" cy="384048"/>
          </a:xfrm>
          <a:prstGeom prst="roundRect">
            <a:avLst>
              <a:gd name="adj" fmla="val 10000"/>
            </a:avLst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微软雅黑"/>
              </a:rPr>
              <a:t>ELK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4160520"/>
            <a:ext cx="1828800" cy="384048"/>
          </a:xfrm>
          <a:prstGeom prst="roundRect">
            <a:avLst>
              <a:gd name="adj" fmla="val 10000"/>
            </a:avLst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微软雅黑"/>
              </a:rPr>
              <a:t>云监控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0" y="4663440"/>
            <a:ext cx="1828800" cy="384048"/>
          </a:xfrm>
          <a:prstGeom prst="roundRect">
            <a:avLst>
              <a:gd name="adj" fmla="val 10000"/>
            </a:avLst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微软雅黑"/>
              </a:rPr>
              <a:t>其他系统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108960"/>
            <a:ext cx="2743200" cy="1828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Arial"/>
                <a:ea typeface="微软雅黑"/>
              </a:rPr>
              <a:t>人工逐一登录
逐一检查
逐一记录
= 15~30 分钟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91695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91440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  <a:ea typeface="微软雅黑"/>
              </a:rPr>
              <a:t>解决方案概览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30352"/>
            <a:ext cx="73152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82296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51560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1">
                <a:solidFill>
                  <a:srgbClr val="2E75B6"/>
                </a:solidFill>
                <a:latin typeface="Arial"/>
                <a:ea typeface="微软雅黑"/>
              </a:rPr>
              <a:t>自然语言描述事件  →  Agent 自动并行扫描所有监控系统  →  生成巡检报告推送到事件群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20040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926080"/>
            <a:ext cx="1188720" cy="274320"/>
          </a:xfrm>
          <a:prstGeom prst="roundRect">
            <a:avLst>
              <a:gd name="adj" fmla="val 10000"/>
            </a:avLst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类比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2651760" cy="914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00" b="0">
                <a:solidFill>
                  <a:srgbClr val="333333"/>
                </a:solidFill>
                <a:latin typeface="Arial"/>
                <a:ea typeface="微软雅黑"/>
              </a:rPr>
              <a:t>7×24 不知疲倦的
巡检专家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743200"/>
            <a:ext cx="320040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2926080"/>
            <a:ext cx="1188720" cy="27432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核心能力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383280"/>
            <a:ext cx="2651760" cy="914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00" b="0">
                <a:solidFill>
                  <a:srgbClr val="333333"/>
                </a:solidFill>
                <a:latin typeface="Arial"/>
                <a:ea typeface="微软雅黑"/>
              </a:rPr>
              <a:t>自动扫描 + AI 分析
生成结构化报告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2743200"/>
            <a:ext cx="320040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2926080"/>
            <a:ext cx="1188720" cy="274320"/>
          </a:xfrm>
          <a:prstGeom prst="roundRect">
            <a:avLst>
              <a:gd name="adj" fmla="val 10000"/>
            </a:avLst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明确边界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383280"/>
            <a:ext cx="2651760" cy="914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00" b="0">
                <a:solidFill>
                  <a:srgbClr val="333333"/>
                </a:solidFill>
                <a:latin typeface="Arial"/>
                <a:ea typeface="微软雅黑"/>
              </a:rPr>
              <a:t>只做异常发现
不做根因定位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46320"/>
            <a:ext cx="109728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Arial"/>
                <a:ea typeface="微软雅黑"/>
              </a:rPr>
              <a:t>* 后续可扩展：根因分析、自动修复建议等高级能力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91695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91440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  <a:ea typeface="微软雅黑"/>
              </a:rPr>
              <a:t>整体架构图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30352"/>
            <a:ext cx="73152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1828800" cy="59436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软雅黑"/>
              </a:rPr>
              <a:t>事件工单系统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194560"/>
            <a:ext cx="1828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Arial"/>
                <a:ea typeface="微软雅黑"/>
              </a:rPr>
              <a:t>工单建立 → 自动 API 调用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743200"/>
            <a:ext cx="1828800" cy="59436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软雅黑"/>
              </a:rPr>
              <a:t>事件群 @Bot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383280"/>
            <a:ext cx="1828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Arial"/>
                <a:ea typeface="微软雅黑"/>
              </a:rPr>
              <a:t>@巡检bot 自然语言描述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94560" y="1719072"/>
            <a:ext cx="411480" cy="320040"/>
          </a:xfrm>
          <a:prstGeom prst="rightArrow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2194560" y="2880360"/>
            <a:ext cx="411480" cy="320040"/>
          </a:xfrm>
          <a:prstGeom prst="rightArrow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1280160"/>
            <a:ext cx="411480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353312"/>
            <a:ext cx="41148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400" b="1">
                <a:solidFill>
                  <a:srgbClr val="2E75B6"/>
                </a:solidFill>
                <a:latin typeface="Arial"/>
                <a:ea typeface="微软雅黑"/>
              </a:rPr>
              <a:t>Agent 服务（三阶段编排引擎）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1737360"/>
            <a:ext cx="3749039" cy="384048"/>
          </a:xfrm>
          <a:prstGeom prst="roundRect">
            <a:avLst>
              <a:gd name="adj" fmla="val 10000"/>
            </a:avLst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微软雅黑"/>
              </a:rPr>
              <a:t>输入规范化 → IncidentRequest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2286000"/>
            <a:ext cx="3749039" cy="868680"/>
          </a:xfrm>
          <a:prstGeom prst="roundRect">
            <a:avLst>
              <a:gd name="adj" fmla="val 10000"/>
            </a:avLst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微软雅黑"/>
              </a:rPr>
              <a:t>Phase 1: 基础巡检
并行拉取 + 多维粗筛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907792"/>
            <a:ext cx="356616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800" b="0">
                <a:solidFill>
                  <a:srgbClr val="CCDDFF"/>
                </a:solidFill>
                <a:latin typeface="Arial"/>
                <a:ea typeface="微软雅黑"/>
              </a:rPr>
              <a:t>* 告警 &gt; 阈值时条件触发 LLM 精筛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3291840"/>
            <a:ext cx="3749039" cy="86868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微软雅黑"/>
              </a:rPr>
              <a:t>Phase 2: AI 深入调查
Tool Calling 查指标/日志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4297680"/>
            <a:ext cx="3749039" cy="868680"/>
          </a:xfrm>
          <a:prstGeom prst="roundRect">
            <a:avLst>
              <a:gd name="adj" fmla="val 10000"/>
            </a:avLst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微软雅黑"/>
              </a:rPr>
              <a:t>Phase 3: 报告生成
AI 生成 + 降级模板兜底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1280160"/>
            <a:ext cx="27432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300" b="1">
                <a:solidFill>
                  <a:srgbClr val="2E75B6"/>
                </a:solidFill>
                <a:latin typeface="Arial"/>
                <a:ea typeface="微软雅黑"/>
              </a:rPr>
              <a:t>监控系统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1691640"/>
            <a:ext cx="2011680" cy="384048"/>
          </a:xfrm>
          <a:prstGeom prst="roundRect">
            <a:avLst>
              <a:gd name="adj" fmla="val 10000"/>
            </a:avLst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微软雅黑"/>
              </a:rPr>
              <a:t>Prometheus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2194560"/>
            <a:ext cx="2011680" cy="384048"/>
          </a:xfrm>
          <a:prstGeom prst="roundRect">
            <a:avLst>
              <a:gd name="adj" fmla="val 10000"/>
            </a:avLst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微软雅黑"/>
              </a:rPr>
              <a:t>Zabbix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2697480"/>
            <a:ext cx="2011680" cy="384048"/>
          </a:xfrm>
          <a:prstGeom prst="roundRect">
            <a:avLst>
              <a:gd name="adj" fmla="val 10000"/>
            </a:avLst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微软雅黑"/>
              </a:rPr>
              <a:t>ELK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3200400"/>
            <a:ext cx="2011680" cy="384048"/>
          </a:xfrm>
          <a:prstGeom prst="roundRect">
            <a:avLst>
              <a:gd name="adj" fmla="val 10000"/>
            </a:avLst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微软雅黑"/>
              </a:rPr>
              <a:t>云监控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103120"/>
            <a:ext cx="5486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1">
                <a:solidFill>
                  <a:srgbClr val="2E75B6"/>
                </a:solidFill>
                <a:latin typeface="Arial"/>
                <a:ea typeface="微软雅黑"/>
              </a:rPr>
              <a:t>适
配
器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949440" y="1920240"/>
            <a:ext cx="365760" cy="320040"/>
          </a:xfrm>
          <a:prstGeom prst="rightArrow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0" y="384048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微软雅黑"/>
              </a:rPr>
              <a:t>元数据配置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343400"/>
            <a:ext cx="237744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Arial"/>
                <a:ea typeface="微软雅黑"/>
              </a:rPr>
              <a:t>指标名 / PromQL 示例 / 索引名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913632"/>
            <a:ext cx="45720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00" b="1">
                <a:solidFill>
                  <a:srgbClr val="888888"/>
                </a:solidFill>
                <a:latin typeface="Arial"/>
                <a:ea typeface="微软雅黑"/>
              </a:rPr>
              <a:t>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4663440"/>
            <a:ext cx="2743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300" b="1">
                <a:solidFill>
                  <a:srgbClr val="2E75B6"/>
                </a:solidFill>
                <a:latin typeface="Arial"/>
                <a:ea typeface="微软雅黑"/>
              </a:rPr>
              <a:t>内部 LLM 服务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4983480"/>
            <a:ext cx="2011680" cy="41148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微软雅黑"/>
              </a:rPr>
              <a:t>OpenAI 兼容接口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800600"/>
            <a:ext cx="54864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1">
                <a:solidFill>
                  <a:srgbClr val="ED7D31"/>
                </a:solidFill>
                <a:latin typeface="Arial"/>
                <a:ea typeface="微软雅黑"/>
              </a:rPr>
              <a:t>抽
象
层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949440" y="5029200"/>
            <a:ext cx="365760" cy="32004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74320" y="4114800"/>
            <a:ext cx="1828800" cy="502920"/>
          </a:xfrm>
          <a:prstGeom prst="roundRect">
            <a:avLst>
              <a:gd name="adj" fmla="val 10000"/>
            </a:avLst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微软雅黑"/>
              </a:rPr>
              <a:t>Webhook 推送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4663440"/>
            <a:ext cx="1828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00" b="0">
                <a:solidFill>
                  <a:srgbClr val="757575"/>
                </a:solidFill>
                <a:latin typeface="Arial"/>
                <a:ea typeface="微软雅黑"/>
              </a:rPr>
              <a:t>钉钉 / 飞书 / Slack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2194560" y="4206240"/>
            <a:ext cx="411480" cy="320040"/>
          </a:xfrm>
          <a:prstGeom prst="rightArrow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5760720"/>
            <a:ext cx="11612880" cy="41148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779008"/>
            <a:ext cx="1097280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00" b="1">
                <a:solidFill>
                  <a:srgbClr val="2E75B6"/>
                </a:solidFill>
                <a:latin typeface="Arial"/>
                <a:ea typeface="微软雅黑"/>
              </a:rPr>
              <a:t>全部组件内网部署  |  技术栈全开源  |  数据不出内网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91695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91440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  <a:ea typeface="微软雅黑"/>
              </a:rPr>
              <a:t>三阶段工作流 — 代码 vs AI 职责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30352"/>
            <a:ext cx="73152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  <a:ea typeface="微软雅黑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54864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核心页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56616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508760"/>
            <a:ext cx="3291840" cy="502920"/>
          </a:xfrm>
          <a:prstGeom prst="roundRect">
            <a:avLst>
              <a:gd name="adj" fmla="val 10000"/>
            </a:avLst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微软雅黑"/>
              </a:rPr>
              <a:t>Phase 1  基础巡检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148840"/>
            <a:ext cx="1097280" cy="27432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代码控制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2148840"/>
            <a:ext cx="914400" cy="274320"/>
          </a:xfrm>
          <a:prstGeom prst="roundRect">
            <a:avLst>
              <a:gd name="adj" fmla="val 10000"/>
            </a:avLst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可选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283464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•  1.1 并行拉取活跃告警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80360"/>
            <a:ext cx="283464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•  1.2 多维粗筛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0400"/>
            <a:ext cx="283464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0">
                <a:solidFill>
                  <a:srgbClr val="757575"/>
                </a:solidFill>
                <a:latin typeface="Arial"/>
                <a:ea typeface="微软雅黑"/>
              </a:rPr>
              <a:t>  ‣  时间 / 系统名 / 严重级 / 关键词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20439"/>
            <a:ext cx="283464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•  1.3 条件 LLM 精筛（&gt;阈值时触发）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283464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0">
                <a:solidFill>
                  <a:srgbClr val="757575"/>
                </a:solidFill>
                <a:latin typeface="Arial"/>
                <a:ea typeface="微软雅黑"/>
              </a:rPr>
              <a:t>  ‣  告警过多 → LLM 判断相关性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60520"/>
            <a:ext cx="283464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•  输出：优先级分组的告警列表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54880"/>
            <a:ext cx="3200400" cy="50292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773168"/>
            <a:ext cx="30175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>
                <a:solidFill>
                  <a:srgbClr val="2E75B6"/>
                </a:solidFill>
                <a:latin typeface="Arial"/>
                <a:ea typeface="微软雅黑"/>
              </a:rPr>
              <a:t>BaselineScanResult
alerts + alerts_by_priority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86400"/>
            <a:ext cx="3017520" cy="1645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0" y="1371600"/>
            <a:ext cx="356616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51960" y="1508760"/>
            <a:ext cx="3291840" cy="50292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微软雅黑"/>
              </a:rPr>
              <a:t>Phase 2  深入调查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2148840"/>
            <a:ext cx="914400" cy="27432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AI 决策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2148840"/>
            <a:ext cx="1097280" cy="27432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代码执行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560320"/>
            <a:ext cx="2834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•  上下文组装（代码）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862072"/>
            <a:ext cx="2834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0">
                <a:solidFill>
                  <a:srgbClr val="757575"/>
                </a:solidFill>
                <a:latin typeface="Arial"/>
                <a:ea typeface="微软雅黑"/>
              </a:rPr>
              <a:t>  ‣  事件 + 告警 + 系统元数据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163824"/>
            <a:ext cx="2834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•  LLM 写原生查询语句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465576"/>
            <a:ext cx="2834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0">
                <a:solidFill>
                  <a:srgbClr val="757575"/>
                </a:solidFill>
                <a:latin typeface="Arial"/>
                <a:ea typeface="微软雅黑"/>
              </a:rPr>
              <a:t>  ‣  PromQL / ES DSL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767328"/>
            <a:ext cx="2834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•  1 tool call = 1 轮，最多 3 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069080"/>
            <a:ext cx="2834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•  查询失败 → 错误回传 LLM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370832"/>
            <a:ext cx="2834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•  超时/轮次耗尽 → 代码强制结束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4754880"/>
            <a:ext cx="3200400" cy="502920"/>
          </a:xfrm>
          <a:prstGeom prst="rect">
            <a:avLst/>
          </a:prstGeom>
          <a:solidFill>
            <a:srgbClr val="FDE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4773168"/>
            <a:ext cx="30175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>
                <a:solidFill>
                  <a:srgbClr val="ED7D31"/>
                </a:solidFill>
                <a:latin typeface="Arial"/>
                <a:ea typeface="微软雅黑"/>
              </a:rPr>
              <a:t>InvestigationResult
findings + queries_executed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5486400"/>
            <a:ext cx="3017520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55279" y="1371600"/>
            <a:ext cx="356616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92439" y="1508760"/>
            <a:ext cx="3291840" cy="502920"/>
          </a:xfrm>
          <a:prstGeom prst="roundRect">
            <a:avLst>
              <a:gd name="adj" fmla="val 10000"/>
            </a:avLst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微软雅黑"/>
              </a:rPr>
              <a:t>Phase 3  报告生成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39" y="2148840"/>
            <a:ext cx="914400" cy="274320"/>
          </a:xfrm>
          <a:prstGeom prst="roundRect">
            <a:avLst>
              <a:gd name="adj" fmla="val 10000"/>
            </a:avLst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AI 生成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3999" y="2148840"/>
            <a:ext cx="1097280" cy="27432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代码推送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9" y="2560320"/>
            <a:ext cx="283464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•  AI 生成 Markdown 结构化报告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9" y="2880360"/>
            <a:ext cx="283464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•  降级策略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199" y="3200400"/>
            <a:ext cx="283464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0">
                <a:solidFill>
                  <a:srgbClr val="757575"/>
                </a:solidFill>
                <a:latin typeface="Arial"/>
                <a:ea typeface="微软雅黑"/>
              </a:rPr>
              <a:t>  ‣  LLM 不可用 → 模板引擎生成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9" y="3520439"/>
            <a:ext cx="283464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•  代码格式化 + Webhook 推送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199" y="3840480"/>
            <a:ext cx="283464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0">
                <a:solidFill>
                  <a:srgbClr val="757575"/>
                </a:solidFill>
                <a:latin typeface="Arial"/>
                <a:ea typeface="微软雅黑"/>
              </a:rPr>
              <a:t>  ‣  钉钉 / 飞书 / Slack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59" y="4754880"/>
            <a:ext cx="3200400" cy="50292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599" y="4773168"/>
            <a:ext cx="30175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>
                <a:solidFill>
                  <a:srgbClr val="70AD47"/>
                </a:solidFill>
                <a:latin typeface="Arial"/>
                <a:ea typeface="微软雅黑"/>
              </a:rPr>
              <a:t>InspectionReport
report_markdown + notification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599" y="5486400"/>
            <a:ext cx="3017520" cy="1645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ight Arrow 44"/>
          <p:cNvSpPr/>
          <p:nvPr/>
        </p:nvSpPr>
        <p:spPr>
          <a:xfrm>
            <a:off x="3794760" y="2926080"/>
            <a:ext cx="320040" cy="36576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ight Arrow 45"/>
          <p:cNvSpPr/>
          <p:nvPr/>
        </p:nvSpPr>
        <p:spPr>
          <a:xfrm>
            <a:off x="7635240" y="2926080"/>
            <a:ext cx="320040" cy="36576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91695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91440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  <a:ea typeface="微软雅黑"/>
              </a:rPr>
              <a:t>Agent 工作原理详解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30352"/>
            <a:ext cx="73152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  <a:ea typeface="微软雅黑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solidFill>
            <a:srgbClr val="FDE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05156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Arial"/>
                <a:ea typeface="微软雅黑"/>
              </a:rPr>
              <a:t>示例："事件工单 — XX 业务访问超时"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965960"/>
            <a:ext cx="292608" cy="292608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2258568"/>
            <a:ext cx="36576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84248"/>
            <a:ext cx="822960" cy="256032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微软雅黑"/>
              </a:rPr>
              <a:t>[代码]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1965960"/>
            <a:ext cx="9555480" cy="3108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接收请求，规范化输入（fault_system=订单服务, event_time=14:30）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322576"/>
            <a:ext cx="292608" cy="292608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2615184"/>
            <a:ext cx="36576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2340864"/>
            <a:ext cx="822960" cy="256032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微软雅黑"/>
              </a:rPr>
              <a:t>[代码]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20" y="2322576"/>
            <a:ext cx="9555480" cy="3108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并行查询 Prometheus / Zabbix / ELK，拉取 14:30±60min 内告警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679192"/>
            <a:ext cx="292608" cy="292608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" y="2971800"/>
            <a:ext cx="36576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2697480"/>
            <a:ext cx="822960" cy="256032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微软雅黑"/>
              </a:rPr>
              <a:t>[代码]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20" y="2679192"/>
            <a:ext cx="9555480" cy="3108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多维粗筛：系统名"订单服务" + severity≥warning → 45→18条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035808"/>
            <a:ext cx="292608" cy="292608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3328416"/>
            <a:ext cx="36576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3054096"/>
            <a:ext cx="822960" cy="256032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微软雅黑"/>
              </a:rPr>
              <a:t>[代码]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20" y="3035808"/>
            <a:ext cx="9555480" cy="3108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18条 ≤ 阈值30，跳过 LLM 精筛，直接进入 Phase 2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3392424"/>
            <a:ext cx="292608" cy="292608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微软雅黑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" y="3685032"/>
            <a:ext cx="36576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3410712"/>
            <a:ext cx="822960" cy="256032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微软雅黑"/>
              </a:rPr>
              <a:t>[代码]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20" y="3392424"/>
            <a:ext cx="9555480" cy="3108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组装上下文：事件描述 + 18条告警 + Prometheus 元数据（指标名列表）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3749040"/>
            <a:ext cx="292608" cy="29260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微软雅黑"/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" y="4041648"/>
            <a:ext cx="36576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4400" y="3767328"/>
            <a:ext cx="1097280" cy="256032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微软雅黑"/>
              </a:rPr>
              <a:t>[AI→Tool]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3749040"/>
            <a:ext cx="9281160" cy="3108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第1轮：query_metrics("prometheus", "rate(http_requests_total{...}[5m])")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4105656"/>
            <a:ext cx="292608" cy="29260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微软雅黑"/>
              </a:rPr>
              <a:t>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" y="4398264"/>
            <a:ext cx="36576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4400" y="4123944"/>
            <a:ext cx="822960" cy="256032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微软雅黑"/>
              </a:rPr>
              <a:t>[代码]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20" y="4105656"/>
            <a:ext cx="9555480" cy="3108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执行 PromQL，返回结果给 AI</a:t>
            </a:r>
          </a:p>
        </p:txBody>
      </p:sp>
      <p:sp>
        <p:nvSpPr>
          <p:cNvPr id="35" name="Oval 34"/>
          <p:cNvSpPr/>
          <p:nvPr/>
        </p:nvSpPr>
        <p:spPr>
          <a:xfrm>
            <a:off x="457200" y="4462272"/>
            <a:ext cx="292608" cy="29260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微软雅黑"/>
              </a:rPr>
              <a:t>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5216" y="4754880"/>
            <a:ext cx="36576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14400" y="4480560"/>
            <a:ext cx="1097280" cy="256032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微软雅黑"/>
              </a:rPr>
              <a:t>[AI→Tool]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48840" y="4462272"/>
            <a:ext cx="9281160" cy="3108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第2轮：search_logs("elasticsearch", {"query":{"match":{...}}})</a:t>
            </a:r>
          </a:p>
        </p:txBody>
      </p:sp>
      <p:sp>
        <p:nvSpPr>
          <p:cNvPr id="39" name="Oval 38"/>
          <p:cNvSpPr/>
          <p:nvPr/>
        </p:nvSpPr>
        <p:spPr>
          <a:xfrm>
            <a:off x="457200" y="4818888"/>
            <a:ext cx="292608" cy="29260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微软雅黑"/>
              </a:rPr>
              <a:t>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5216" y="5111496"/>
            <a:ext cx="36576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14400" y="4837176"/>
            <a:ext cx="1097280" cy="256032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微软雅黑"/>
              </a:rPr>
              <a:t>[  AI  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48840" y="4818888"/>
            <a:ext cx="9281160" cy="3108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调用 finish_investigation — 信息充足，结束调查</a:t>
            </a:r>
          </a:p>
        </p:txBody>
      </p:sp>
      <p:sp>
        <p:nvSpPr>
          <p:cNvPr id="43" name="Oval 42"/>
          <p:cNvSpPr/>
          <p:nvPr/>
        </p:nvSpPr>
        <p:spPr>
          <a:xfrm>
            <a:off x="457200" y="5175504"/>
            <a:ext cx="292608" cy="292608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微软雅黑"/>
              </a:rPr>
              <a:t>10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5193792"/>
            <a:ext cx="1097280" cy="256032"/>
          </a:xfrm>
          <a:prstGeom prst="roundRect">
            <a:avLst>
              <a:gd name="adj" fmla="val 10000"/>
            </a:avLst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微软雅黑"/>
              </a:rPr>
              <a:t>[AI+代码]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48840" y="5175504"/>
            <a:ext cx="9281160" cy="3108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AI 生成报告 → 代码格式化 Markdown → Webhook 推送到事件群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612880" y="1965960"/>
            <a:ext cx="54864" cy="17373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72800" y="2720340"/>
            <a:ext cx="6400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800" b="1">
                <a:solidFill>
                  <a:srgbClr val="5B9BD5"/>
                </a:solidFill>
                <a:latin typeface="Arial"/>
                <a:ea typeface="微软雅黑"/>
              </a:rPr>
              <a:t>Phase 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612880" y="3749040"/>
            <a:ext cx="54864" cy="138074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0" y="4325112"/>
            <a:ext cx="6400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800" b="1">
                <a:solidFill>
                  <a:srgbClr val="ED7D31"/>
                </a:solidFill>
                <a:latin typeface="Arial"/>
                <a:ea typeface="微软雅黑"/>
              </a:rPr>
              <a:t>Phase 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612880" y="5175504"/>
            <a:ext cx="54864" cy="310896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72800" y="5216652"/>
            <a:ext cx="6400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800" b="1">
                <a:solidFill>
                  <a:srgbClr val="70AD47"/>
                </a:solidFill>
                <a:latin typeface="Arial"/>
                <a:ea typeface="微软雅黑"/>
              </a:rPr>
              <a:t>Phase 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687568"/>
            <a:ext cx="1051560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00" b="1">
                <a:solidFill>
                  <a:srgbClr val="2E75B6"/>
                </a:solidFill>
                <a:latin typeface="Arial"/>
                <a:ea typeface="微软雅黑"/>
              </a:rPr>
              <a:t>全程自动化  |  代码保证确定性  |  AI 提供智能决策  |  总耗时 1-2 分钟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91695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91440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  <a:ea typeface="微软雅黑"/>
              </a:rPr>
              <a:t>如何与 Agent 交互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30352"/>
            <a:ext cx="73152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  <a:ea typeface="微软雅黑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05840" cy="274320"/>
          </a:xfrm>
          <a:prstGeom prst="roundRect">
            <a:avLst>
              <a:gd name="adj" fmla="val 10000"/>
            </a:avLst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触发源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47548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/>
                <a:ea typeface="微软雅黑"/>
              </a:rPr>
              <a:t>事件工单系统 — 工单建立时自动调用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67127"/>
            <a:ext cx="47548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0">
                <a:solidFill>
                  <a:srgbClr val="757575"/>
                </a:solidFill>
                <a:latin typeface="Arial"/>
                <a:ea typeface="微软雅黑"/>
              </a:rPr>
              <a:t>携带结构化字段：fault_system / description / alert_summary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59736"/>
            <a:ext cx="47548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0">
                <a:solidFill>
                  <a:srgbClr val="757575"/>
                </a:solidFill>
                <a:latin typeface="Arial"/>
                <a:ea typeface="微软雅黑"/>
              </a:rPr>
              <a:t>event_time / time_window_minutes（默认 60）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53035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1005840" cy="274320"/>
          </a:xfrm>
          <a:prstGeom prst="roundRect">
            <a:avLst>
              <a:gd name="adj" fmla="val 10000"/>
            </a:avLst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触发源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47548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/>
                <a:ea typeface="微软雅黑"/>
              </a:rPr>
              <a:t>事件群 @巡检bot — 发送自然语言描述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21608"/>
            <a:ext cx="475488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0">
                <a:solidFill>
                  <a:srgbClr val="757575"/>
                </a:solidFill>
                <a:latin typeface="Arial"/>
                <a:ea typeface="微软雅黑"/>
              </a:rPr>
              <a:t>系统解析为相同 IncidentRequest 结构（一期单次巡检）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43600" y="2468880"/>
            <a:ext cx="548640" cy="457200"/>
          </a:xfrm>
          <a:prstGeom prst="right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1371600"/>
            <a:ext cx="5029200" cy="2651760"/>
          </a:xfrm>
          <a:prstGeom prst="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0" y="1463040"/>
            <a:ext cx="731520" cy="274320"/>
          </a:xfrm>
          <a:prstGeom prst="roundRect">
            <a:avLst>
              <a:gd name="adj" fmla="val 10000"/>
            </a:avLst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输出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920240"/>
            <a:ext cx="475488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/>
                <a:ea typeface="微软雅黑"/>
              </a:rPr>
              <a:t>Markdown 格式巡检报告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286000"/>
            <a:ext cx="475488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/>
                <a:ea typeface="微软雅黑"/>
              </a:rPr>
              <a:t>自动推送到事件群（Webhook）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651760"/>
            <a:ext cx="475488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/>
                <a:ea typeface="微软雅黑"/>
              </a:rPr>
              <a:t>包含：告警列表、指标异常、日志摘要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017520"/>
            <a:ext cx="475488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/>
                <a:ea typeface="微软雅黑"/>
              </a:rPr>
              <a:t>同时通过 API 返回给调用方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89120"/>
            <a:ext cx="11247120" cy="1645920"/>
          </a:xfrm>
          <a:prstGeom prst="rect">
            <a:avLst/>
          </a:prstGeom>
          <a:solidFill>
            <a:srgbClr val="F2F2F2"/>
          </a:solidFill>
          <a:ln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4480560"/>
            <a:ext cx="1097280" cy="274320"/>
          </a:xfrm>
          <a:prstGeom prst="roundRect">
            <a:avLst>
              <a:gd name="adj" fmla="val 10000"/>
            </a:avLst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后续扩展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92040"/>
            <a:ext cx="1051560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•  支持多轮追问和对话式交互（一期只做单次巡检）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57800"/>
            <a:ext cx="1051560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•  支持批量巡检和定时巡检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23559"/>
            <a:ext cx="1051560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•  更多监控系统适配器接入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91695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91440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  <a:ea typeface="微软雅黑"/>
              </a:rPr>
              <a:t>监控系统对接 — 插件化适配器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30352"/>
            <a:ext cx="73152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  <a:ea typeface="微软雅黑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Arial"/>
                <a:ea typeface="微软雅黑"/>
              </a:rPr>
              <a:t>每个监控系统一个适配器，统一接口规范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0116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1828800" cy="411480"/>
          </a:xfrm>
          <a:prstGeom prst="roundRect">
            <a:avLst>
              <a:gd name="adj" fmla="val 10000"/>
            </a:avLst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微软雅黑"/>
              </a:rPr>
              <a:t>Prometheus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173736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0">
                <a:solidFill>
                  <a:srgbClr val="757575"/>
                </a:solidFill>
                <a:latin typeface="Arial"/>
                <a:ea typeface="微软雅黑"/>
              </a:rPr>
              <a:t>指标查询
活跃告警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914400" cy="274320"/>
          </a:xfrm>
          <a:prstGeom prst="roundRect">
            <a:avLst>
              <a:gd name="adj" fmla="val 10000"/>
            </a:avLst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微软雅黑"/>
              </a:rPr>
              <a:t>已规划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011680"/>
            <a:ext cx="20116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34640" y="2148840"/>
            <a:ext cx="1828800" cy="411480"/>
          </a:xfrm>
          <a:prstGeom prst="roundRect">
            <a:avLst>
              <a:gd name="adj" fmla="val 10000"/>
            </a:avLst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微软雅黑"/>
              </a:rPr>
              <a:t>Zabbix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697480"/>
            <a:ext cx="173736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0">
                <a:solidFill>
                  <a:srgbClr val="757575"/>
                </a:solidFill>
                <a:latin typeface="Arial"/>
                <a:ea typeface="微软雅黑"/>
              </a:rPr>
              <a:t>主机监控
触发器告警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3474720"/>
            <a:ext cx="914400" cy="274320"/>
          </a:xfrm>
          <a:prstGeom prst="roundRect">
            <a:avLst>
              <a:gd name="adj" fmla="val 10000"/>
            </a:avLst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微软雅黑"/>
              </a:rPr>
              <a:t>已规划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011680"/>
            <a:ext cx="20116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0" y="2148840"/>
            <a:ext cx="1828800" cy="411480"/>
          </a:xfrm>
          <a:prstGeom prst="roundRect">
            <a:avLst>
              <a:gd name="adj" fmla="val 10000"/>
            </a:avLst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微软雅黑"/>
              </a:rPr>
              <a:t>ELK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697480"/>
            <a:ext cx="173736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0">
                <a:solidFill>
                  <a:srgbClr val="757575"/>
                </a:solidFill>
                <a:latin typeface="Arial"/>
                <a:ea typeface="微软雅黑"/>
              </a:rPr>
              <a:t>日志搜索
错误聚合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3474720"/>
            <a:ext cx="914400" cy="274320"/>
          </a:xfrm>
          <a:prstGeom prst="roundRect">
            <a:avLst>
              <a:gd name="adj" fmla="val 10000"/>
            </a:avLst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微软雅黑"/>
              </a:rPr>
              <a:t>已规划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2011680"/>
            <a:ext cx="20116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6640" y="2148840"/>
            <a:ext cx="1828800" cy="41148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微软雅黑"/>
              </a:rPr>
              <a:t>CloudWatch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697480"/>
            <a:ext cx="173736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0">
                <a:solidFill>
                  <a:srgbClr val="757575"/>
                </a:solidFill>
                <a:latin typeface="Arial"/>
                <a:ea typeface="微软雅黑"/>
              </a:rPr>
              <a:t>AWS 云监控
指标 &amp; 告警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3474720"/>
            <a:ext cx="914400" cy="27432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微软雅黑"/>
              </a:rPr>
              <a:t>已规划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2011680"/>
            <a:ext cx="20116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92640" y="2148840"/>
            <a:ext cx="1828800" cy="41148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微软雅黑"/>
              </a:rPr>
              <a:t>阿里云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2697480"/>
            <a:ext cx="173736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0">
                <a:solidFill>
                  <a:srgbClr val="757575"/>
                </a:solidFill>
                <a:latin typeface="Arial"/>
                <a:ea typeface="微软雅黑"/>
              </a:rPr>
              <a:t>阿里云监控
云产品指标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3474720"/>
            <a:ext cx="914400" cy="27432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微软雅黑"/>
              </a:rPr>
              <a:t>已规划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97680"/>
            <a:ext cx="11247120" cy="164592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>
                <a:solidFill>
                  <a:srgbClr val="2E75B6"/>
                </a:solidFill>
                <a:latin typeface="Arial"/>
                <a:ea typeface="微软雅黑"/>
              </a:rPr>
              <a:t>扩展方式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" y="4937760"/>
            <a:ext cx="365760" cy="36576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19472"/>
            <a:ext cx="210312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拿到接口文档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017520" y="4983480"/>
            <a:ext cx="320040" cy="274320"/>
          </a:xfrm>
          <a:prstGeom prst="rightArrow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74720" y="4937760"/>
            <a:ext cx="365760" cy="36576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4919472"/>
            <a:ext cx="210312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开发适配器（实现统一接口）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760720" y="4983480"/>
            <a:ext cx="320040" cy="274320"/>
          </a:xfrm>
          <a:prstGeom prst="rightArrow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217920" y="4937760"/>
            <a:ext cx="365760" cy="36576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919472"/>
            <a:ext cx="210312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加配置项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503920" y="4983480"/>
            <a:ext cx="320040" cy="274320"/>
          </a:xfrm>
          <a:prstGeom prst="rightArrow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961120" y="4937760"/>
            <a:ext cx="365760" cy="36576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4919472"/>
            <a:ext cx="210312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接入完成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486400"/>
            <a:ext cx="10058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>
                <a:solidFill>
                  <a:srgbClr val="ED7D31"/>
                </a:solidFill>
                <a:latin typeface="Arial"/>
                <a:ea typeface="微软雅黑"/>
              </a:rPr>
              <a:t>核心编排逻辑不需要改动，适配器即插即用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91695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91440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  <a:ea typeface="微软雅黑"/>
              </a:rPr>
              <a:t>内网部署可行性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30352"/>
            <a:ext cx="73152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  <a:ea typeface="微软雅黑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457200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Arial"/>
                <a:ea typeface="微软雅黑"/>
              </a:rPr>
              <a:t>技术栈（全开源）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01168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Arial"/>
                <a:ea typeface="微软雅黑"/>
              </a:rPr>
              <a:t>Python 3.11+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11680"/>
            <a:ext cx="256032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757575"/>
                </a:solidFill>
                <a:latin typeface="Arial"/>
                <a:ea typeface="微软雅黑"/>
              </a:rPr>
              <a:t>主语言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201168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Arial"/>
                <a:ea typeface="微软雅黑"/>
              </a:rP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395728"/>
            <a:ext cx="256032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757575"/>
                </a:solidFill>
                <a:latin typeface="Arial"/>
                <a:ea typeface="微软雅黑"/>
              </a:rPr>
              <a:t>Web 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79776"/>
            <a:ext cx="201168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Arial"/>
                <a:ea typeface="微软雅黑"/>
              </a:rPr>
              <a:t>httpx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779776"/>
            <a:ext cx="256032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757575"/>
                </a:solidFill>
                <a:latin typeface="Arial"/>
                <a:ea typeface="微软雅黑"/>
              </a:rPr>
              <a:t>异步 HTTP 客户端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63824"/>
            <a:ext cx="201168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Arial"/>
                <a:ea typeface="微软雅黑"/>
              </a:rPr>
              <a:t>Pydantic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163824"/>
            <a:ext cx="256032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757575"/>
                </a:solidFill>
                <a:latin typeface="Arial"/>
                <a:ea typeface="微软雅黑"/>
              </a:rPr>
              <a:t>数据校验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47872"/>
            <a:ext cx="201168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Arial"/>
                <a:ea typeface="微软雅黑"/>
              </a:rPr>
              <a:t>structlog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547872"/>
            <a:ext cx="256032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757575"/>
                </a:solidFill>
                <a:latin typeface="Arial"/>
                <a:ea typeface="微软雅黑"/>
              </a:rPr>
              <a:t>结构化日志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31920"/>
            <a:ext cx="201168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Arial"/>
                <a:ea typeface="微软雅黑"/>
              </a:rPr>
              <a:t>Docker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931920"/>
            <a:ext cx="2560320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757575"/>
                </a:solidFill>
                <a:latin typeface="Arial"/>
                <a:ea typeface="微软雅黑"/>
              </a:rPr>
              <a:t>容器化部署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530352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417320"/>
            <a:ext cx="457200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Arial"/>
                <a:ea typeface="微软雅黑"/>
              </a:rPr>
              <a:t>LLM 对接方案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011680"/>
            <a:ext cx="484632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/>
                <a:ea typeface="微软雅黑"/>
              </a:rPr>
              <a:t>•  通过抽象层对接，兼容任何 OpenAI 兼容接口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359152"/>
            <a:ext cx="484632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/>
                <a:ea typeface="微软雅黑"/>
              </a:rPr>
              <a:t>•  内部 LLM 服务提供接口后即可对接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706624"/>
            <a:ext cx="484632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/>
                <a:ea typeface="微软雅黑"/>
              </a:rPr>
              <a:t>•  支持灵活切换模型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383280"/>
            <a:ext cx="53035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429000"/>
            <a:ext cx="4572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>
                <a:solidFill>
                  <a:srgbClr val="70AD47"/>
                </a:solidFill>
                <a:latin typeface="Arial"/>
                <a:ea typeface="微软雅黑"/>
              </a:rPr>
              <a:t>网络与安全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931920"/>
            <a:ext cx="484632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/>
                <a:ea typeface="微软雅黑"/>
              </a:rPr>
              <a:t>•  无需访问外网，所有数据流转在内网完成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51959"/>
            <a:ext cx="484632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rial"/>
                <a:ea typeface="微软雅黑"/>
              </a:rPr>
              <a:t>•  Docker 容器化，轻量级部署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11247120" cy="118872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983480"/>
            <a:ext cx="109728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Arial"/>
                <a:ea typeface="微软雅黑"/>
              </a:rPr>
              <a:t>部署架构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44068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微软雅黑"/>
              </a:rPr>
              <a:t>Docker 容器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2514599" y="5532120"/>
            <a:ext cx="320040" cy="274320"/>
          </a:xfrm>
          <a:prstGeom prst="rightArrow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926080" y="544068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微软雅黑"/>
              </a:rPr>
              <a:t>FastAPI 服务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800599" y="5532120"/>
            <a:ext cx="320040" cy="274320"/>
          </a:xfrm>
          <a:prstGeom prst="rightArrow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212080" y="544068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微软雅黑"/>
              </a:rPr>
              <a:t>适配器模块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086599" y="5532120"/>
            <a:ext cx="320040" cy="274320"/>
          </a:xfrm>
          <a:prstGeom prst="rightArrow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98079" y="544068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微软雅黑"/>
              </a:rPr>
              <a:t>LLM 客户端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372598" y="5532120"/>
            <a:ext cx="320040" cy="274320"/>
          </a:xfrm>
          <a:prstGeom prst="rightArrow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84080" y="544068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微软雅黑"/>
              </a:rPr>
              <a:t>Webhook 推送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91695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91440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  <a:ea typeface="微软雅黑"/>
              </a:rPr>
              <a:t>效果对比 + 使用场景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30352"/>
            <a:ext cx="73152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  <a:ea typeface="微软雅黑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572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Arial"/>
                <a:ea typeface="微软雅黑"/>
              </a:rPr>
              <a:t>对比分析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37360"/>
          <a:ext cx="5943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228600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维度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人工巡检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AI Agent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5B6"/>
                          </a:solidFill>
                          <a:latin typeface="Arial"/>
                          <a:ea typeface="微软雅黑"/>
                        </a:rPr>
                        <a:t>耗时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Arial"/>
                          <a:ea typeface="微软雅黑"/>
                        </a:rPr>
                        <a:t>15-30 分钟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70AD47"/>
                          </a:solidFill>
                          <a:latin typeface="Arial"/>
                          <a:ea typeface="微软雅黑"/>
                        </a:rPr>
                        <a:t>1-2 分钟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5B6"/>
                          </a:solidFill>
                          <a:latin typeface="Arial"/>
                          <a:ea typeface="微软雅黑"/>
                        </a:rPr>
                        <a:t>覆盖范围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Arial"/>
                          <a:ea typeface="微软雅黑"/>
                        </a:rPr>
                        <a:t>依赖个人经验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70AD47"/>
                          </a:solidFill>
                          <a:latin typeface="Arial"/>
                          <a:ea typeface="微软雅黑"/>
                        </a:rPr>
                        <a:t>全系统无遗漏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5B6"/>
                          </a:solidFill>
                          <a:latin typeface="Arial"/>
                          <a:ea typeface="微软雅黑"/>
                        </a:rPr>
                        <a:t>一致性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Arial"/>
                          <a:ea typeface="微软雅黑"/>
                        </a:rPr>
                        <a:t>因人而异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70AD47"/>
                          </a:solidFill>
                          <a:latin typeface="Arial"/>
                          <a:ea typeface="微软雅黑"/>
                        </a:rPr>
                        <a:t>标准化输出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5B6"/>
                          </a:solidFill>
                          <a:latin typeface="Arial"/>
                          <a:ea typeface="微软雅黑"/>
                        </a:rPr>
                        <a:t>可用性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Arial"/>
                          <a:ea typeface="微软雅黑"/>
                        </a:rPr>
                        <a:t>工作时间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70AD47"/>
                          </a:solidFill>
                          <a:latin typeface="Arial"/>
                          <a:ea typeface="微软雅黑"/>
                        </a:rPr>
                        <a:t>7×24 小时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1280160"/>
            <a:ext cx="4572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Arial"/>
                <a:ea typeface="微软雅黑"/>
              </a:rPr>
              <a:t>巡检报告示例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737360"/>
            <a:ext cx="4846320" cy="4389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828800"/>
            <a:ext cx="4480560" cy="4114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0">
                <a:solidFill>
                  <a:srgbClr val="CED4DA"/>
                </a:solidFill>
                <a:latin typeface="Arial"/>
                <a:ea typeface="微软雅黑"/>
              </a:rPr>
              <a:t>## 巡检报告
事件：XX 业务访问超时
时间：2025-01-15 14:30
### 告警概况
- [CRITICAL] HTTP 5xx 错误率 &gt; 5%
- [WARNING] CPU 使用率 85%
- [WARNING] 内存使用率 90%
### 指标异常
- HTTP P99 延迟: 5.2s (正常 &lt; 500ms)
- 请求成功率: 94.8% (正常 &gt; 99.5%)
### 日志摘要
- 近 1h 共 523 条 5xx 错误日志
- 主要错误: Connection timeout
### 影响评估
发现 3 个活跃告警，服务可用性下降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91695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91440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  <a:ea typeface="微软雅黑"/>
              </a:rPr>
              <a:t>实现路线图 + 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30352"/>
            <a:ext cx="73152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rial"/>
                <a:ea typeface="微软雅黑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060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423160" cy="457200"/>
          </a:xfrm>
          <a:prstGeom prst="roundRect">
            <a:avLst>
              <a:gd name="adj" fmla="val 10000"/>
            </a:avLst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微软雅黑"/>
              </a:rPr>
              <a:t>阶段一：框架搭建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24028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•  项目骨架 + 配置管理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224028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•  Prometheus 适配器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224028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•  基础巡检流程（可 Demo）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81528" y="2286000"/>
            <a:ext cx="182880" cy="32004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060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80" y="1463040"/>
            <a:ext cx="2423160" cy="45720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微软雅黑"/>
              </a:rPr>
              <a:t>阶段二：核心能力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03120"/>
            <a:ext cx="224028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•  AI 深入调查（Tool Calling）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423160"/>
            <a:ext cx="224028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•  报告生成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743200"/>
            <a:ext cx="224028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•  LLM 抽象层对接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16168" y="2286000"/>
            <a:ext cx="182880" cy="32004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371600"/>
            <a:ext cx="26060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463040"/>
            <a:ext cx="2423160" cy="457200"/>
          </a:xfrm>
          <a:prstGeom prst="roundRect">
            <a:avLst>
              <a:gd name="adj" fmla="val 10000"/>
            </a:avLst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微软雅黑"/>
              </a:rPr>
              <a:t>阶段三：系统扩展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103120"/>
            <a:ext cx="224028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•  Zabbix / ELK 适配器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423160"/>
            <a:ext cx="224028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•  钉钉/飞书通知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743200"/>
            <a:ext cx="224028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•  更多监控系统接入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50808" y="2286000"/>
            <a:ext cx="182880" cy="32004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1371600"/>
            <a:ext cx="26060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52560" y="1463040"/>
            <a:ext cx="2423160" cy="4572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微软雅黑"/>
              </a:rPr>
              <a:t>阶段四：上线优化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103120"/>
            <a:ext cx="224028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•  集成测试 + 压测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423160"/>
            <a:ext cx="224028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•  文档编写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43200"/>
            <a:ext cx="224028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•  正式上线运行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114800"/>
            <a:ext cx="11247120" cy="2011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251960"/>
            <a:ext cx="100584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  <a:ea typeface="微软雅黑"/>
              </a:rPr>
              <a:t>核心价值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754880"/>
            <a:ext cx="1371600" cy="347472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软雅黑"/>
              </a:rPr>
              <a:t>效率提升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212080"/>
            <a:ext cx="34747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  <a:ea typeface="微软雅黑"/>
              </a:rPr>
              <a:t>巡检时间从 15-30 分钟缩短到 1-2 分钟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59" y="4754880"/>
            <a:ext cx="1371600" cy="347472"/>
          </a:xfrm>
          <a:prstGeom prst="roundRect">
            <a:avLst>
              <a:gd name="adj" fmla="val 10000"/>
            </a:avLst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软雅黑"/>
              </a:rPr>
              <a:t>全面覆盖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59" y="5212080"/>
            <a:ext cx="34747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  <a:ea typeface="微软雅黑"/>
              </a:rPr>
              <a:t>自动扫描所有监控系统，不遗漏任何告警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4754880"/>
            <a:ext cx="1371600" cy="347472"/>
          </a:xfrm>
          <a:prstGeom prst="roundRect">
            <a:avLst>
              <a:gd name="adj" fmla="val 10000"/>
            </a:avLst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软雅黑"/>
              </a:rPr>
              <a:t>标准化输出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212080"/>
            <a:ext cx="34747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  <a:ea typeface="微软雅黑"/>
              </a:rPr>
              <a:t>统一格式的巡检报告，经验可沉淀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0" y="5669280"/>
            <a:ext cx="3931920" cy="41148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微软雅黑"/>
              </a:rPr>
              <a:t>请求立项审批，启动阶段一开发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6CBE6"/>
      </a:accent5>
      <a:accent6>
        <a:srgbClr val="D4702B"/>
      </a:accent6>
      <a:hlink>
        <a:srgbClr val="0563C1"/>
      </a:hlink>
      <a:folHlink>
        <a:srgbClr val="954F72"/>
      </a:folHlink>
    </a:clrScheme>
    <a:fontScheme name="">
      <a:majorFont>
        <a:latin typeface="等线 Light"/>
        <a:ea typeface="等线 Light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6CBE6"/>
      </a:accent5>
      <a:accent6>
        <a:srgbClr val="D4702B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Jinze Wang</cp:lastModifiedBy>
  <cp:revision>87</cp:revision>
  <dcterms:created xsi:type="dcterms:W3CDTF">2021-05-31T15:35:00Z</dcterms:created>
  <dcterms:modified xsi:type="dcterms:W3CDTF">2026-02-27T06:16:45Z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66BB02BB4B8142158516F93911F3C349</vt:lpwstr>
  </property>
  <property fmtid="{D5CDD505-2E9C-101B-9397-08002B2CF9AE}" pid="3" name="KSOProductBuildVer">
    <vt:lpwstr>2052-11.8.2.12086</vt:lpwstr>
  </property>
  <property fmtid="{D5CDD505-2E9C-101B-9397-08002B2CF9AE}" pid="4" name="KSOSaveFontToCloudKey">
    <vt:lpwstr>365516300_cloud</vt:lpwstr>
  </property>
</Properties>
</file>